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8786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377440"/>
            <a:ext cx="6400800" cy="64008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-2743200" y="3840480"/>
            <a:ext cx="5486400" cy="54864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/home/claude/ppt/icons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2490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REALESTATE HUB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&amp; Chat Conversational AI Agent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7E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Pakistani Real Estate Market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 txBox="1"/>
          <p:nvPr/>
        </p:nvSpPr>
        <p:spPr>
          <a:xfrm>
            <a:off x="82296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321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Muhammad Usman Ilyas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806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Netixsol AI/ML Engineering Internship  •  Week 7 Capstone Project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/home/claude/ppt/icons/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600200"/>
            <a:ext cx="7406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autonomous voice &amp; chat AI sales agent purpose-built for Pakistani real estate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Natural, low-latency UrduLish conversation with real-time barge-in interruption handling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191,393 verified property listings — a zero-hallucination retrieval design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automates appointment booking, calendar sync, employee email alerts &amp; CRM logging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across six progressive development phases: Week 7, Day 1 through Day 6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9006840" y="160020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 txBox="1"/>
          <p:nvPr/>
        </p:nvSpPr>
        <p:spPr>
          <a:xfrm>
            <a:off x="928116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281160" y="2286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191,393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9281160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Listings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281160" y="3154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9281160" y="3538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Phases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281160" y="4023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9281160" y="4407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Nodes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9281160" y="4892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281160" y="5276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Cases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RealEstate Hub — AI Voice &amp; Chat Agent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/home/claude/ppt/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Technology Stack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208483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1207008" y="1892808"/>
            <a:ext cx="585216" cy="5852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/home/claude/ppt/icons/phoneVolu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460" y="2033260"/>
            <a:ext cx="304312" cy="304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6060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295351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PSTN call (Vapi) or Web UI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2546604" y="233172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2706624" y="1691640"/>
            <a:ext cx="208483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9"/>
          <p:cNvSpPr/>
          <p:nvPr/>
        </p:nvSpPr>
        <p:spPr>
          <a:xfrm>
            <a:off x="3456432" y="1892808"/>
            <a:ext cx="585216" cy="5852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4" name="Image 2" descr="/home/claude/ppt/icons/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6884" y="2033260"/>
            <a:ext cx="304312" cy="304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798064" y="26060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Pipeline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2816352" y="295351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STT + Fish/ElevenLabs TTS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4796028" y="233172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4956048" y="1691640"/>
            <a:ext cx="208483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4"/>
          <p:cNvSpPr/>
          <p:nvPr/>
        </p:nvSpPr>
        <p:spPr>
          <a:xfrm>
            <a:off x="5705856" y="1892808"/>
            <a:ext cx="585216" cy="5852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0" name="Image 3" descr="/home/claude/ppt/icons/proj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6308" y="2033260"/>
            <a:ext cx="304312" cy="3043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047488" y="26060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Core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065776" y="295351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11-node state machine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7045452" y="233172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7205472" y="1691640"/>
            <a:ext cx="208483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19"/>
          <p:cNvSpPr/>
          <p:nvPr/>
        </p:nvSpPr>
        <p:spPr>
          <a:xfrm>
            <a:off x="7955280" y="1892808"/>
            <a:ext cx="585216" cy="5852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6" name="Image 4" descr="/home/claude/ppt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5732" y="2033260"/>
            <a:ext cx="304312" cy="3043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96912" y="26060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Layer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7315200" y="295351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(191k rows) + ChromaDB RAG</a:t>
            </a:r>
            <a:endParaRPr lang="en-US" sz="950" dirty="0"/>
          </a:p>
        </p:txBody>
      </p:sp>
      <p:sp>
        <p:nvSpPr>
          <p:cNvPr id="29" name="Text 22"/>
          <p:cNvSpPr txBox="1"/>
          <p:nvPr/>
        </p:nvSpPr>
        <p:spPr>
          <a:xfrm>
            <a:off x="9294876" y="233172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3"/>
          <p:cNvSpPr/>
          <p:nvPr/>
        </p:nvSpPr>
        <p:spPr>
          <a:xfrm>
            <a:off x="9454896" y="1691640"/>
            <a:ext cx="208483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4"/>
          <p:cNvSpPr/>
          <p:nvPr/>
        </p:nvSpPr>
        <p:spPr>
          <a:xfrm>
            <a:off x="10204704" y="1892808"/>
            <a:ext cx="585216" cy="58521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2" name="Image 5" descr="/home/claude/ppt/icons/cal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5156" y="2033260"/>
            <a:ext cx="304312" cy="30431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546336" y="26060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Layer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9564624" y="2953512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Calendar, Email, CRM, n8n</a:t>
            </a:r>
            <a:endParaRPr lang="en-US" sz="950" dirty="0"/>
          </a:p>
        </p:txBody>
      </p:sp>
      <p:sp>
        <p:nvSpPr>
          <p:cNvPr id="35" name="Text 27"/>
          <p:cNvSpPr txBox="1"/>
          <p:nvPr/>
        </p:nvSpPr>
        <p:spPr>
          <a:xfrm>
            <a:off x="45720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TECHNOLOGIES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42062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(async REST &amp; WebSocket)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LangChain Core (stateful orchestration)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— openai/gpt-oss-20b &amp; 120b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4069080" y="42062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Nova-3 (streaming STT)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 err="1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(streaming TTS)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FTS5 (191,393 verified listings)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7680960" y="42062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MiniLM-L6-v2 (semantic RAG)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API + Gmail API / SMTP</a:t>
            </a:r>
            <a:endParaRPr lang="en-US" sz="1200" dirty="0"/>
          </a:p>
          <a:p>
            <a:pPr>
              <a:spcAft>
                <a:spcPts val="800"/>
              </a:spcAft>
              <a:buSzPct val="100000"/>
            </a:pP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RealEstate Hub — AI Voice &amp; Chat Agent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/home/claude/ppt/icons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the Voice Agent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VOICE PIPELINE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87452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Telephony — SIP/PSTN trunking receives live call audio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— streaming VAD via Deepgram Nova-3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— context, memory &amp; tool-call generation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— availability, booking, email, CRM sync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(RAG) — grounded in verified SQL + vector data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— session context + persistent CRM by phone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— streaming synthesis with barge-in</a:t>
            </a:r>
            <a:endParaRPr lang="en-US" sz="12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stateful LangGraph conversation control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903720" y="1554480"/>
            <a:ext cx="4800600" cy="2331720"/>
          </a:xfrm>
          <a:prstGeom prst="roundRect">
            <a:avLst>
              <a:gd name="adj" fmla="val 392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 txBox="1"/>
          <p:nvPr/>
        </p:nvSpPr>
        <p:spPr>
          <a:xfrm>
            <a:off x="7178040" y="1737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URDULISH PERSONA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208483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“Assalam-o-Alaikum sir! RealEstate Hub se baat ho rahi hai. Main aap ki kis tarah madad kar sakta hoon?”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178040" y="3063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warm, professional, patient, persuasive</a:t>
            </a:r>
            <a:endParaRPr lang="en-US" sz="11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fillers: “Ji bilkul...”, “Ek second sir...”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903720" y="4069080"/>
            <a:ext cx="4800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 txBox="1"/>
          <p:nvPr/>
        </p:nvSpPr>
        <p:spPr>
          <a:xfrm>
            <a:off x="7178040" y="4224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SELECTED: FISH AUDIO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4553712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~250–350ms latency vs ~450–600ms (ElevenLabs)</a:t>
            </a:r>
            <a:endParaRPr lang="en-US" sz="11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UrduLish phonetics, seamless code-switching</a:t>
            </a:r>
            <a:endParaRPr lang="en-US" sz="11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 pay-per-character pricing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RealEstate Hub — AI Voice &amp; Chat Agent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/home/claude/ppt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 &amp; RAG Pipeline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STRATEGY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874520"/>
            <a:ext cx="640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&amp; parametric queries (price, beds, city) → exact SQL on realestate.db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descriptive queries (payment plans, FAQs) → semantic ChromaDB search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191,393 Zameen.com listings + 150 synthetic commercial records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Chunk-size evaluation: 400 characters selected (0.487 similarity score)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via sentence-transformers/all-MiniLM-L6-v2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20-QUESTION HALLUCINATION BENCHMARK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223760" y="19202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 txBox="1"/>
          <p:nvPr/>
        </p:nvSpPr>
        <p:spPr>
          <a:xfrm>
            <a:off x="7223760" y="202996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290779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Rate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823960" y="19202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 txBox="1"/>
          <p:nvPr/>
        </p:nvSpPr>
        <p:spPr>
          <a:xfrm>
            <a:off x="8823960" y="202996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915400" y="290779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Accuracy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223760" y="34290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 txBox="1"/>
          <p:nvPr/>
        </p:nvSpPr>
        <p:spPr>
          <a:xfrm>
            <a:off x="7223760" y="353872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44165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823960" y="342900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 txBox="1"/>
          <p:nvPr/>
        </p:nvSpPr>
        <p:spPr>
          <a:xfrm>
            <a:off x="8823960" y="353872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191K+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8915400" y="44165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Indexed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RealEstate Hub — AI Voice &amp; Chat Agent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/home/claude/ppt/icons/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Voice &amp; Natural Conversation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VOICE PIPELINE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87452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endpoint /ws/voice/{session_id}, 16kHz linear PCM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 Nova-3 → Groq LLM → Fish Audio streaming TTS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Barge-in: client speech instantly cancels active TTS playback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~75ms system processing latency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SLOT MEMORY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48056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“Budget 3 crore hai” → stores budget = 30,000,000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“DHA mein kya options hain?” → merges city + location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 se sasti koi option?” → filters below prior results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29400" y="1554480"/>
            <a:ext cx="5074920" cy="4480560"/>
          </a:xfrm>
          <a:prstGeom prst="roundRect">
            <a:avLst>
              <a:gd name="adj" fmla="val 204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 txBox="1"/>
          <p:nvPr/>
        </p:nvSpPr>
        <p:spPr>
          <a:xfrm>
            <a:off x="69037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 ENGINE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903720" y="2148840"/>
            <a:ext cx="4526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objection categories: price, trust, location, investment, builder, maintenance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grounded in verified SQL/RAG facts — never improvised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labeled training examples per category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human escalation if an objection persists beyond 2 turns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903720" y="4572000"/>
            <a:ext cx="452628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 txBox="1"/>
          <p:nvPr/>
        </p:nvSpPr>
        <p:spPr>
          <a:xfrm>
            <a:off x="6903720" y="47548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6C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“Main aap ki pareshani samajh sakta hoon, lekin is location mein...”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RealEstate Hub — AI Voice &amp; Chat Agent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/home/claude/ppt/icons/cal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Workflows, Scheduling &amp; Business Automation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365760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Shape 4"/>
          <p:cNvSpPr/>
          <p:nvPr/>
        </p:nvSpPr>
        <p:spPr>
          <a:xfrm>
            <a:off x="685800" y="182880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8" name="Image 1" descr="/home/claude/ppt/icons/cal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1960474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9019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60604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API v3 + local SQLite fallback; freebusy checks enforce zero double-booking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297680" y="1600200"/>
            <a:ext cx="365760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8"/>
          <p:cNvSpPr/>
          <p:nvPr/>
        </p:nvSpPr>
        <p:spPr>
          <a:xfrm>
            <a:off x="4526280" y="182880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3" name="Image 2" descr="/home/claude/ppt/icons/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954" y="196047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12080" y="19019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CRM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526280" y="260604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HTML cards to sales reps; CRM auto-logs transcripts, preferences &amp; follow-ups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38160" y="1600200"/>
            <a:ext cx="365760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635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2"/>
          <p:cNvSpPr/>
          <p:nvPr/>
        </p:nvSpPr>
        <p:spPr>
          <a:xfrm>
            <a:off x="8366760" y="182880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8" name="Image 3" descr="/home/claude/ppt/icons/proj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8434" y="196047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52560" y="19019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Automation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366760" y="260604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webhook → intent → calendar → email → CRM, with 3x retry &amp; failure alerting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APPOINTMENT LIFECYCLE — CHAT &amp; VOICE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50292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→ Reschedule → Cancel, with explicit “Confirm karein” verification before any calendar write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1-day post-visit follow-up reminder; 3-day win-back reminder after a cancellation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RealEstate Hub — AI Voice &amp; Chat Agent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/home/claude/ppt/icons/pro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Orchestration Engine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709160" y="160020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 txBox="1"/>
          <p:nvPr/>
        </p:nvSpPr>
        <p:spPr>
          <a:xfrm>
            <a:off x="4709160" y="1600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5196" y="2788920"/>
            <a:ext cx="11704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 txBox="1"/>
          <p:nvPr/>
        </p:nvSpPr>
        <p:spPr>
          <a:xfrm>
            <a:off x="452628" y="278892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1696212" y="2788920"/>
            <a:ext cx="11704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 txBox="1"/>
          <p:nvPr/>
        </p:nvSpPr>
        <p:spPr>
          <a:xfrm>
            <a:off x="1723644" y="278892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Search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2967228" y="2788920"/>
            <a:ext cx="11704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 txBox="1"/>
          <p:nvPr/>
        </p:nvSpPr>
        <p:spPr>
          <a:xfrm>
            <a:off x="2994660" y="278892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4238244" y="2788920"/>
            <a:ext cx="11704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 txBox="1"/>
          <p:nvPr/>
        </p:nvSpPr>
        <p:spPr>
          <a:xfrm>
            <a:off x="4265676" y="278892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5509260" y="2788920"/>
            <a:ext cx="11704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 txBox="1"/>
          <p:nvPr/>
        </p:nvSpPr>
        <p:spPr>
          <a:xfrm>
            <a:off x="5536692" y="278892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Rescheduling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6780276" y="2788920"/>
            <a:ext cx="11704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 txBox="1"/>
          <p:nvPr/>
        </p:nvSpPr>
        <p:spPr>
          <a:xfrm>
            <a:off x="6807708" y="278892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8051292" y="2788920"/>
            <a:ext cx="11704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 txBox="1"/>
          <p:nvPr/>
        </p:nvSpPr>
        <p:spPr>
          <a:xfrm>
            <a:off x="8078724" y="278892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9322308" y="2788920"/>
            <a:ext cx="11704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 txBox="1"/>
          <p:nvPr/>
        </p:nvSpPr>
        <p:spPr>
          <a:xfrm>
            <a:off x="9349740" y="278892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10593324" y="2788920"/>
            <a:ext cx="117043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 txBox="1"/>
          <p:nvPr/>
        </p:nvSpPr>
        <p:spPr>
          <a:xfrm>
            <a:off x="10620756" y="2788920"/>
            <a:ext cx="111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6094476" y="2194560"/>
            <a:ext cx="0" cy="566928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 txBox="1"/>
          <p:nvPr/>
        </p:nvSpPr>
        <p:spPr>
          <a:xfrm>
            <a:off x="457200" y="3703320"/>
            <a:ext cx="11247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11-node stateful LangGraph, with explicit conditional-edge routing (route_next_node)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wrapped autonomous tools: property search, calendar, email, CRM, availability check, RAG search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safeguards: double-booking prevention, verified-property-only enforcement, clarification-over-guessing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persisted to day5_traces.db — fully auditable decision trail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RealEstate Hub — AI Voice &amp; Chat Agent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/home/claude/ppt/icons/pro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— ARCHITECTURE DETAIL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State Machine — Full Flow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545836" y="141732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 txBox="1"/>
          <p:nvPr/>
        </p:nvSpPr>
        <p:spPr>
          <a:xfrm>
            <a:off x="5545836" y="14173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094476" y="1746504"/>
            <a:ext cx="0" cy="201168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4539996" y="1947672"/>
            <a:ext cx="3108960" cy="475488"/>
          </a:xfrm>
          <a:prstGeom prst="roundRect">
            <a:avLst>
              <a:gd name="adj" fmla="val 1346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 txBox="1"/>
          <p:nvPr/>
        </p:nvSpPr>
        <p:spPr>
          <a:xfrm>
            <a:off x="4539996" y="194767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node_intent_detection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94476" y="2423160"/>
            <a:ext cx="0" cy="27432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992124" y="2697480"/>
            <a:ext cx="10204704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992124" y="2697480"/>
            <a:ext cx="0" cy="18288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470916" y="2880360"/>
            <a:ext cx="104241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 txBox="1"/>
          <p:nvPr/>
        </p:nvSpPr>
        <p:spPr>
          <a:xfrm>
            <a:off x="489204" y="2880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2125980" y="2697480"/>
            <a:ext cx="0" cy="18288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1604772" y="2880360"/>
            <a:ext cx="104241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 txBox="1"/>
          <p:nvPr/>
        </p:nvSpPr>
        <p:spPr>
          <a:xfrm>
            <a:off x="1623060" y="2880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Goodbye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3259836" y="2697480"/>
            <a:ext cx="0" cy="18288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7"/>
          <p:cNvSpPr/>
          <p:nvPr/>
        </p:nvSpPr>
        <p:spPr>
          <a:xfrm>
            <a:off x="2738628" y="2880360"/>
            <a:ext cx="104241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 txBox="1"/>
          <p:nvPr/>
        </p:nvSpPr>
        <p:spPr>
          <a:xfrm>
            <a:off x="2756916" y="2880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Search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4393692" y="2697480"/>
            <a:ext cx="0" cy="18288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0"/>
          <p:cNvSpPr/>
          <p:nvPr/>
        </p:nvSpPr>
        <p:spPr>
          <a:xfrm>
            <a:off x="3872484" y="2880360"/>
            <a:ext cx="104241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 txBox="1"/>
          <p:nvPr/>
        </p:nvSpPr>
        <p:spPr>
          <a:xfrm>
            <a:off x="3890772" y="2880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5527548" y="2697480"/>
            <a:ext cx="0" cy="18288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23"/>
          <p:cNvSpPr/>
          <p:nvPr/>
        </p:nvSpPr>
        <p:spPr>
          <a:xfrm>
            <a:off x="5006340" y="2880360"/>
            <a:ext cx="104241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 txBox="1"/>
          <p:nvPr/>
        </p:nvSpPr>
        <p:spPr>
          <a:xfrm>
            <a:off x="5024628" y="2880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820" dirty="0"/>
          </a:p>
        </p:txBody>
      </p:sp>
      <p:sp>
        <p:nvSpPr>
          <p:cNvPr id="28" name="Shape 25"/>
          <p:cNvSpPr/>
          <p:nvPr/>
        </p:nvSpPr>
        <p:spPr>
          <a:xfrm>
            <a:off x="6661404" y="2697480"/>
            <a:ext cx="0" cy="18288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Shape 26"/>
          <p:cNvSpPr/>
          <p:nvPr/>
        </p:nvSpPr>
        <p:spPr>
          <a:xfrm>
            <a:off x="6140196" y="2880360"/>
            <a:ext cx="104241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7"/>
          <p:cNvSpPr txBox="1"/>
          <p:nvPr/>
        </p:nvSpPr>
        <p:spPr>
          <a:xfrm>
            <a:off x="6158484" y="2880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Rescheduling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7795260" y="2697480"/>
            <a:ext cx="0" cy="18288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29"/>
          <p:cNvSpPr/>
          <p:nvPr/>
        </p:nvSpPr>
        <p:spPr>
          <a:xfrm>
            <a:off x="7274052" y="2880360"/>
            <a:ext cx="104241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0"/>
          <p:cNvSpPr txBox="1"/>
          <p:nvPr/>
        </p:nvSpPr>
        <p:spPr>
          <a:xfrm>
            <a:off x="7292340" y="2880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820" dirty="0"/>
          </a:p>
        </p:txBody>
      </p:sp>
      <p:sp>
        <p:nvSpPr>
          <p:cNvPr id="34" name="Shape 31"/>
          <p:cNvSpPr/>
          <p:nvPr/>
        </p:nvSpPr>
        <p:spPr>
          <a:xfrm>
            <a:off x="8929116" y="2697480"/>
            <a:ext cx="0" cy="18288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Shape 32"/>
          <p:cNvSpPr/>
          <p:nvPr/>
        </p:nvSpPr>
        <p:spPr>
          <a:xfrm>
            <a:off x="8407908" y="2880360"/>
            <a:ext cx="104241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3"/>
          <p:cNvSpPr txBox="1"/>
          <p:nvPr/>
        </p:nvSpPr>
        <p:spPr>
          <a:xfrm>
            <a:off x="8426196" y="2880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20" dirty="0"/>
          </a:p>
        </p:txBody>
      </p:sp>
      <p:sp>
        <p:nvSpPr>
          <p:cNvPr id="37" name="Shape 34"/>
          <p:cNvSpPr/>
          <p:nvPr/>
        </p:nvSpPr>
        <p:spPr>
          <a:xfrm>
            <a:off x="10062972" y="2697480"/>
            <a:ext cx="0" cy="18288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Shape 35"/>
          <p:cNvSpPr/>
          <p:nvPr/>
        </p:nvSpPr>
        <p:spPr>
          <a:xfrm>
            <a:off x="9541764" y="2880360"/>
            <a:ext cx="104241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6"/>
          <p:cNvSpPr txBox="1"/>
          <p:nvPr/>
        </p:nvSpPr>
        <p:spPr>
          <a:xfrm>
            <a:off x="9560052" y="2880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</a:t>
            </a:r>
            <a:endParaRPr lang="en-US" sz="820" dirty="0"/>
          </a:p>
        </p:txBody>
      </p:sp>
      <p:sp>
        <p:nvSpPr>
          <p:cNvPr id="40" name="Shape 37"/>
          <p:cNvSpPr/>
          <p:nvPr/>
        </p:nvSpPr>
        <p:spPr>
          <a:xfrm>
            <a:off x="11196828" y="2697480"/>
            <a:ext cx="0" cy="18288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Shape 38"/>
          <p:cNvSpPr/>
          <p:nvPr/>
        </p:nvSpPr>
        <p:spPr>
          <a:xfrm>
            <a:off x="10675620" y="2880360"/>
            <a:ext cx="104241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39"/>
          <p:cNvSpPr txBox="1"/>
          <p:nvPr/>
        </p:nvSpPr>
        <p:spPr>
          <a:xfrm>
            <a:off x="10693908" y="2880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820" dirty="0"/>
          </a:p>
        </p:txBody>
      </p:sp>
      <p:sp>
        <p:nvSpPr>
          <p:cNvPr id="43" name="Text 40"/>
          <p:cNvSpPr txBox="1"/>
          <p:nvPr/>
        </p:nvSpPr>
        <p:spPr>
          <a:xfrm>
            <a:off x="4265676" y="2450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 routing — route_next_node()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6094476" y="3383280"/>
            <a:ext cx="0" cy="41148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Shape 42"/>
          <p:cNvSpPr/>
          <p:nvPr/>
        </p:nvSpPr>
        <p:spPr>
          <a:xfrm>
            <a:off x="1545336" y="3794760"/>
            <a:ext cx="9098280" cy="0"/>
          </a:xfrm>
          <a:prstGeom prst="line">
            <a:avLst/>
          </a:prstGeom>
          <a:noFill/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Shape 43"/>
          <p:cNvSpPr/>
          <p:nvPr/>
        </p:nvSpPr>
        <p:spPr>
          <a:xfrm>
            <a:off x="1545336" y="3794760"/>
            <a:ext cx="0" cy="182880"/>
          </a:xfrm>
          <a:prstGeom prst="line">
            <a:avLst/>
          </a:prstGeom>
          <a:noFill/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Shape 44"/>
          <p:cNvSpPr/>
          <p:nvPr/>
        </p:nvSpPr>
        <p:spPr>
          <a:xfrm>
            <a:off x="699516" y="3977640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8" name="Text 45"/>
          <p:cNvSpPr txBox="1"/>
          <p:nvPr/>
        </p:nvSpPr>
        <p:spPr>
          <a:xfrm>
            <a:off x="726948" y="39776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E6C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tool_search_property</a:t>
            </a:r>
            <a:endParaRPr lang="en-US" sz="860" dirty="0"/>
          </a:p>
        </p:txBody>
      </p:sp>
      <p:sp>
        <p:nvSpPr>
          <p:cNvPr id="49" name="Shape 46"/>
          <p:cNvSpPr/>
          <p:nvPr/>
        </p:nvSpPr>
        <p:spPr>
          <a:xfrm>
            <a:off x="3364992" y="3794760"/>
            <a:ext cx="0" cy="182880"/>
          </a:xfrm>
          <a:prstGeom prst="line">
            <a:avLst/>
          </a:prstGeom>
          <a:noFill/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Shape 47"/>
          <p:cNvSpPr/>
          <p:nvPr/>
        </p:nvSpPr>
        <p:spPr>
          <a:xfrm>
            <a:off x="2519172" y="3977640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Text 48"/>
          <p:cNvSpPr txBox="1"/>
          <p:nvPr/>
        </p:nvSpPr>
        <p:spPr>
          <a:xfrm>
            <a:off x="2546604" y="39776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E6C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tool_rag_search</a:t>
            </a:r>
            <a:endParaRPr lang="en-US" sz="860" dirty="0"/>
          </a:p>
        </p:txBody>
      </p:sp>
      <p:sp>
        <p:nvSpPr>
          <p:cNvPr id="52" name="Shape 49"/>
          <p:cNvSpPr/>
          <p:nvPr/>
        </p:nvSpPr>
        <p:spPr>
          <a:xfrm>
            <a:off x="5184648" y="3794760"/>
            <a:ext cx="0" cy="182880"/>
          </a:xfrm>
          <a:prstGeom prst="line">
            <a:avLst/>
          </a:prstGeom>
          <a:noFill/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Shape 50"/>
          <p:cNvSpPr/>
          <p:nvPr/>
        </p:nvSpPr>
        <p:spPr>
          <a:xfrm>
            <a:off x="4338828" y="3977640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4" name="Text 51"/>
          <p:cNvSpPr txBox="1"/>
          <p:nvPr/>
        </p:nvSpPr>
        <p:spPr>
          <a:xfrm>
            <a:off x="4366260" y="39776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E6C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tool_calendar</a:t>
            </a:r>
            <a:endParaRPr lang="en-US" sz="860" dirty="0"/>
          </a:p>
        </p:txBody>
      </p:sp>
      <p:sp>
        <p:nvSpPr>
          <p:cNvPr id="55" name="Shape 52"/>
          <p:cNvSpPr/>
          <p:nvPr/>
        </p:nvSpPr>
        <p:spPr>
          <a:xfrm>
            <a:off x="7004304" y="3794760"/>
            <a:ext cx="0" cy="182880"/>
          </a:xfrm>
          <a:prstGeom prst="line">
            <a:avLst/>
          </a:prstGeom>
          <a:noFill/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6" name="Shape 53"/>
          <p:cNvSpPr/>
          <p:nvPr/>
        </p:nvSpPr>
        <p:spPr>
          <a:xfrm>
            <a:off x="6158484" y="3977640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7" name="Text 54"/>
          <p:cNvSpPr txBox="1"/>
          <p:nvPr/>
        </p:nvSpPr>
        <p:spPr>
          <a:xfrm>
            <a:off x="6185916" y="39776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E6C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tool_email</a:t>
            </a:r>
            <a:endParaRPr lang="en-US" sz="860" dirty="0"/>
          </a:p>
        </p:txBody>
      </p:sp>
      <p:sp>
        <p:nvSpPr>
          <p:cNvPr id="58" name="Shape 55"/>
          <p:cNvSpPr/>
          <p:nvPr/>
        </p:nvSpPr>
        <p:spPr>
          <a:xfrm>
            <a:off x="8823960" y="3794760"/>
            <a:ext cx="0" cy="182880"/>
          </a:xfrm>
          <a:prstGeom prst="line">
            <a:avLst/>
          </a:prstGeom>
          <a:noFill/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9" name="Shape 56"/>
          <p:cNvSpPr/>
          <p:nvPr/>
        </p:nvSpPr>
        <p:spPr>
          <a:xfrm>
            <a:off x="7978140" y="3977640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0" name="Text 57"/>
          <p:cNvSpPr txBox="1"/>
          <p:nvPr/>
        </p:nvSpPr>
        <p:spPr>
          <a:xfrm>
            <a:off x="8005572" y="39776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E6C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tool_crm</a:t>
            </a:r>
            <a:endParaRPr lang="en-US" sz="860" dirty="0"/>
          </a:p>
        </p:txBody>
      </p:sp>
      <p:sp>
        <p:nvSpPr>
          <p:cNvPr id="61" name="Shape 58"/>
          <p:cNvSpPr/>
          <p:nvPr/>
        </p:nvSpPr>
        <p:spPr>
          <a:xfrm>
            <a:off x="10643616" y="3794760"/>
            <a:ext cx="0" cy="182880"/>
          </a:xfrm>
          <a:prstGeom prst="line">
            <a:avLst/>
          </a:prstGeom>
          <a:noFill/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2" name="Shape 59"/>
          <p:cNvSpPr/>
          <p:nvPr/>
        </p:nvSpPr>
        <p:spPr>
          <a:xfrm>
            <a:off x="9797796" y="3977640"/>
            <a:ext cx="1691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3" name="Text 60"/>
          <p:cNvSpPr txBox="1"/>
          <p:nvPr/>
        </p:nvSpPr>
        <p:spPr>
          <a:xfrm>
            <a:off x="9825228" y="39776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E6C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tool_check_availability</a:t>
            </a:r>
            <a:endParaRPr lang="en-US" sz="860" dirty="0"/>
          </a:p>
        </p:txBody>
      </p:sp>
      <p:sp>
        <p:nvSpPr>
          <p:cNvPr id="64" name="Text 61"/>
          <p:cNvSpPr txBox="1"/>
          <p:nvPr/>
        </p:nvSpPr>
        <p:spPr>
          <a:xfrm>
            <a:off x="4082796" y="35387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Tool Execution Layer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6094476" y="4434840"/>
            <a:ext cx="0" cy="36576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6" name="Shape 63"/>
          <p:cNvSpPr/>
          <p:nvPr/>
        </p:nvSpPr>
        <p:spPr>
          <a:xfrm>
            <a:off x="3717036" y="4800600"/>
            <a:ext cx="4754880" cy="457200"/>
          </a:xfrm>
          <a:prstGeom prst="roundRect">
            <a:avLst>
              <a:gd name="adj" fmla="val 14000"/>
            </a:avLst>
          </a:prstGeom>
          <a:solidFill>
            <a:srgbClr val="F7F8FB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7" name="Text 64"/>
          <p:cNvSpPr txBox="1"/>
          <p:nvPr/>
        </p:nvSpPr>
        <p:spPr>
          <a:xfrm>
            <a:off x="3717036" y="4800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record_transition()  —  persisted to day5_traces.db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6094476" y="5257800"/>
            <a:ext cx="0" cy="219456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9" name="Shape 66"/>
          <p:cNvSpPr/>
          <p:nvPr/>
        </p:nvSpPr>
        <p:spPr>
          <a:xfrm>
            <a:off x="5545836" y="5477256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0" name="Text 67"/>
          <p:cNvSpPr txBox="1"/>
          <p:nvPr/>
        </p:nvSpPr>
        <p:spPr>
          <a:xfrm>
            <a:off x="5545836" y="54772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71" name="Text 68"/>
          <p:cNvSpPr txBox="1"/>
          <p:nvPr/>
        </p:nvSpPr>
        <p:spPr>
          <a:xfrm>
            <a:off x="457200" y="59893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turn flows through one deterministic path — intent → routed node → tool execution → traced response.</a:t>
            </a:r>
            <a:endParaRPr lang="en-US" sz="1150" dirty="0"/>
          </a:p>
        </p:txBody>
      </p:sp>
      <p:sp>
        <p:nvSpPr>
          <p:cNvPr id="72" name="Text 6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RealEstate Hub — AI Voice &amp; Chat Agent</a:t>
            </a:r>
            <a:endParaRPr lang="en-US" sz="900" dirty="0"/>
          </a:p>
        </p:txBody>
      </p:sp>
      <p:sp>
        <p:nvSpPr>
          <p:cNvPr id="73" name="Text 70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/home/claude/ppt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Hardening &amp; Evaluation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0020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test cases across 11 categories — buyer, seller, investor, rental, appointment, cancellation, rescheduling, off-topic, prompt injection, angry customer, silent caller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guardrails neutralize adversarial inputs (“ignore instructions”, “reveal prompt”, fake bookings)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docker-compose deployment, GitHub Actions CI/CD on every push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00200"/>
          <a:ext cx="5577840" cy="338328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Response 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2500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75.60 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 Success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Success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Failure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Defense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RealEstate Hub — AI Voice &amp; Chat Agent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/home/claude/ppt/icons/phone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STAKEHOLDER DEMONSTRATION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Live Demo — Part 1: Discovery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RECOMMENDATION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 txBox="1"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78992" y="1728216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Customer Call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078992" y="2020824"/>
            <a:ext cx="1025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call connects instantly via Vapi telephony integration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 txBox="1"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78992" y="2569464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Inquiry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078992" y="2862072"/>
            <a:ext cx="1025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states budget, city &amp; type in natural UrduLish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4655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 txBox="1"/>
          <p:nvPr/>
        </p:nvSpPr>
        <p:spPr>
          <a:xfrm>
            <a:off x="54864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78992" y="3410712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Factual Answers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1078992" y="3703320"/>
            <a:ext cx="1025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grounded in verified SQL/vector data — zero hallucination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306824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 txBox="1"/>
          <p:nvPr/>
        </p:nvSpPr>
        <p:spPr>
          <a:xfrm>
            <a:off x="548640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78992" y="4251960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Recommendations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4544568"/>
            <a:ext cx="1025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filters + soft scoring surface 2–3 best-fit properties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5148072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 txBox="1"/>
          <p:nvPr/>
        </p:nvSpPr>
        <p:spPr>
          <a:xfrm>
            <a:off x="54864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5093208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1078992" y="5385816"/>
            <a:ext cx="1025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Empathetic, fact-based response to price/trust/location concerns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RealEstate Hub — AI Voice &amp; Chat Agent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/home/claude/ppt/icons/calPl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STAKEHOLDER DEMONSTRATION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Live Demo — Part 2: Conversion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&amp; CONFIRMATION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 txBox="1"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78992" y="1728216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078992" y="2020824"/>
            <a:ext cx="1025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multi-turn slot filling — name, preferred day &amp; time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 txBox="1"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78992" y="2569464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Event Creation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078992" y="2862072"/>
            <a:ext cx="1025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 check prevents any double-booking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4655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 txBox="1"/>
          <p:nvPr/>
        </p:nvSpPr>
        <p:spPr>
          <a:xfrm>
            <a:off x="54864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78992" y="3410712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Email Notification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1078992" y="3703320"/>
            <a:ext cx="1025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HTML confirmation card sent to the assigned agent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306824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 txBox="1"/>
          <p:nvPr/>
        </p:nvSpPr>
        <p:spPr>
          <a:xfrm>
            <a:off x="548640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078992" y="4251960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Rescheduling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4544568"/>
            <a:ext cx="1025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spoken command updates the calendar automatically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5148072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 txBox="1"/>
          <p:nvPr/>
        </p:nvSpPr>
        <p:spPr>
          <a:xfrm>
            <a:off x="54864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5093208"/>
            <a:ext cx="10259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Cancellation</a:t>
            </a:r>
            <a:endParaRPr lang="en-US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1078992" y="5385816"/>
            <a:ext cx="10259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cancellation triggers a CRM win-back reminder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48640" y="6080760"/>
            <a:ext cx="10789920" cy="18288"/>
          </a:xfrm>
          <a:prstGeom prst="roundRect">
            <a:avLst/>
          </a:prstGeom>
          <a:solidFill>
            <a:srgbClr val="E1E6F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 txBox="1"/>
          <p:nvPr/>
        </p:nvSpPr>
        <p:spPr>
          <a:xfrm>
            <a:off x="54864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elapsed demo time: ~10 minutes — fully live, zero scripted fallbacks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RealEstate Hub — AI Voice &amp; Chat Agent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/home/claude/ppt/icons/whats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FUTURE ENHANCEMENTS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&amp; Communication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7" name="Image 1" descr="/home/claude/ppt/icons/whats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181234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66420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Integration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195681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confirmations &amp; reminders via WhatsApp Business API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53288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2" descr="/home/claude/ppt/icons/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2653589"/>
            <a:ext cx="261518" cy="26151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50545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Confirmations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1234440" y="2798064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appointment confirmations for low-connectivity users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337413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5" name="Image 3" descr="/home/claude/ppt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1" y="3494837"/>
            <a:ext cx="261518" cy="26151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4440" y="33467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Integrations</a:t>
            </a:r>
            <a:endParaRPr lang="en-US" sz="1450" dirty="0"/>
          </a:p>
        </p:txBody>
      </p:sp>
      <p:sp>
        <p:nvSpPr>
          <p:cNvPr id="17" name="Text 11"/>
          <p:cNvSpPr txBox="1"/>
          <p:nvPr/>
        </p:nvSpPr>
        <p:spPr>
          <a:xfrm>
            <a:off x="1234440" y="36393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two-way sync with Salesforce and HubSpot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48640" y="4215384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4" descr="/home/claude/ppt/icons/buil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1" y="4336085"/>
            <a:ext cx="261518" cy="26151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34440" y="41879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450" dirty="0"/>
          </a:p>
        </p:txBody>
      </p:sp>
      <p:sp>
        <p:nvSpPr>
          <p:cNvPr id="21" name="Text 14"/>
          <p:cNvSpPr txBox="1"/>
          <p:nvPr/>
        </p:nvSpPr>
        <p:spPr>
          <a:xfrm>
            <a:off x="1234440" y="44805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modes for Urdu, English &amp; Punjabi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48640" y="505663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3" name="Image 5" descr="/home/claude/ppt/icons/m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1" y="5177333"/>
            <a:ext cx="261518" cy="26151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234440" y="50292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</a:t>
            </a:r>
            <a:endParaRPr lang="en-US" sz="1450" dirty="0"/>
          </a:p>
        </p:txBody>
      </p:sp>
      <p:sp>
        <p:nvSpPr>
          <p:cNvPr id="25" name="Text 17"/>
          <p:cNvSpPr txBox="1"/>
          <p:nvPr/>
        </p:nvSpPr>
        <p:spPr>
          <a:xfrm>
            <a:off x="1234440" y="53218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Branded, consistent voice identity per partner agency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RealEstate Hub — AI Voice &amp; Chat Agent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/home/claude/ppt/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FUTURE ENHANCEMENTS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&amp; Intelligence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7" name="Image 1" descr="/home/claude/ppt/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181234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66420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195681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conversion, call-quality &amp; funnel insights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53288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2" descr="/home/claude/ppt/icons/bulls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2653589"/>
            <a:ext cx="261518" cy="26151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50545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Scoring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1234440" y="2798064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AI-prioritized leads based on intent &amp; budget signals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337413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5" name="Image 3" descr="/home/claude/ppt/icons/calPl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1" y="3494837"/>
            <a:ext cx="261518" cy="26151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4440" y="334670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Follow-up Campaigns</a:t>
            </a:r>
            <a:endParaRPr lang="en-US" sz="1450" dirty="0"/>
          </a:p>
        </p:txBody>
      </p:sp>
      <p:sp>
        <p:nvSpPr>
          <p:cNvPr id="17" name="Text 11"/>
          <p:cNvSpPr txBox="1"/>
          <p:nvPr/>
        </p:nvSpPr>
        <p:spPr>
          <a:xfrm>
            <a:off x="1234440" y="36393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nurture sequences to re-engage cold leads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48640" y="4215384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9" name="Image 4" descr="/home/claude/ppt/icons/credit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1" y="4336085"/>
            <a:ext cx="261518" cy="26151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34440" y="41879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</a:t>
            </a:r>
            <a:endParaRPr lang="en-US" sz="1450" dirty="0"/>
          </a:p>
        </p:txBody>
      </p:sp>
      <p:sp>
        <p:nvSpPr>
          <p:cNvPr id="21" name="Text 14"/>
          <p:cNvSpPr txBox="1"/>
          <p:nvPr/>
        </p:nvSpPr>
        <p:spPr>
          <a:xfrm>
            <a:off x="1234440" y="44805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deposits &amp; token payments handled in-call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48640" y="5056632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3" name="Image 5" descr="/home/claude/ppt/icons/site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1" y="5177333"/>
            <a:ext cx="261518" cy="26151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234440" y="50292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MLS / Feed Integration</a:t>
            </a:r>
            <a:endParaRPr lang="en-US" sz="1450" dirty="0"/>
          </a:p>
        </p:txBody>
      </p:sp>
      <p:sp>
        <p:nvSpPr>
          <p:cNvPr id="25" name="Text 17"/>
          <p:cNvSpPr txBox="1"/>
          <p:nvPr/>
        </p:nvSpPr>
        <p:spPr>
          <a:xfrm>
            <a:off x="1234440" y="53218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 sync from external listing feeds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RealEstate Hub — AI Voice &amp; Chat Agent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" name="Image 0" descr="/home/claude/ppt/icons/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6766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Results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 txBox="1"/>
          <p:nvPr/>
        </p:nvSpPr>
        <p:spPr>
          <a:xfrm>
            <a:off x="457200" y="1801368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191,393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735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Listings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6052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 txBox="1"/>
          <p:nvPr/>
        </p:nvSpPr>
        <p:spPr>
          <a:xfrm>
            <a:off x="4160520" y="1801368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4251960" y="32735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Success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8638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 txBox="1"/>
          <p:nvPr/>
        </p:nvSpPr>
        <p:spPr>
          <a:xfrm>
            <a:off x="7863840" y="1801368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75.6 ms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32735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Response Latency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3886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 txBox="1"/>
          <p:nvPr/>
        </p:nvSpPr>
        <p:spPr>
          <a:xfrm>
            <a:off x="457200" y="3995928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46811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160520" y="3886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 txBox="1"/>
          <p:nvPr/>
        </p:nvSpPr>
        <p:spPr>
          <a:xfrm>
            <a:off x="4160520" y="3995928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4251960" y="546811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Test Cases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863840" y="3886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 txBox="1"/>
          <p:nvPr/>
        </p:nvSpPr>
        <p:spPr>
          <a:xfrm>
            <a:off x="7863840" y="3995928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7955280" y="546811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Defense Rate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RealEstate Hub — AI Voice &amp; Chat Agent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6400800" cy="64008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8686800" y="4114800"/>
            <a:ext cx="5943600" cy="59436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5637276" y="141732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/home/claude/ppt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163677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606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0" y="33832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7E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88636" y="416052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 txBox="1"/>
          <p:nvPr/>
        </p:nvSpPr>
        <p:spPr>
          <a:xfrm>
            <a:off x="0" y="43434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Muhammad Usman Ilyas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0" y="48463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Netixsol AI/ML Engineering Internship  •  RealEstate Hub — Week 7 Capstone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1473</Words>
  <Application>Microsoft Office PowerPoint</Application>
  <PresentationFormat>Widescreen</PresentationFormat>
  <Paragraphs>304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24-NTU-CS-FL-1202</cp:lastModifiedBy>
  <cp:revision>2</cp:revision>
  <dcterms:created xsi:type="dcterms:W3CDTF">2026-09-01T00:32:52Z</dcterms:created>
  <dcterms:modified xsi:type="dcterms:W3CDTF">2026-09-01T07:50:01Z</dcterms:modified>
</cp:coreProperties>
</file>