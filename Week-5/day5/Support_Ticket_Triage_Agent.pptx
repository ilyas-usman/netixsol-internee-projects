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8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6956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-2286000" y="4114800"/>
            <a:ext cx="4572000" cy="45720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 TRIAGE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Production-Ready Agentic System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LangGraph + Groq  ·  Evaluated  ·  Deployed via FastAPI  ·  Monitored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Usman Ilyas</a:t>
            </a:r>
            <a:endParaRPr lang="en-US" sz="16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1234440"/>
            <a:ext cx="12188952" cy="18288"/>
          </a:xfrm>
          <a:prstGeom prst="rect">
            <a:avLst/>
          </a:prstGeom>
          <a:solidFill>
            <a:srgbClr val="EAF4F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03520" cy="4480560"/>
          </a:xfrm>
          <a:prstGeom prst="roundRect">
            <a:avLst>
              <a:gd name="adj" fmla="val 2449"/>
            </a:avLst>
          </a:prstGeom>
          <a:solidFill>
            <a:srgbClr val="EAF4F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triage doesn't scale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incoming ticket needs a human to read, classify, and prioritize it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Consequential requests (refunds, security) need judgment — but routine ones don't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categorization slows response time and frustrates customers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repeatable way to measure whether support quality is improving or slipping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600200"/>
            <a:ext cx="5303520" cy="4480560"/>
          </a:xfrm>
          <a:prstGeom prst="roundRect">
            <a:avLst>
              <a:gd name="adj" fmla="val 2449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675120" y="1874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75120" y="242316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that classifies, researches, and drafts a response for every ticket — then automatically routes anything consequential to a human before it reaches the customer.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675120" y="4005072"/>
            <a:ext cx="146304" cy="146304"/>
          </a:xfrm>
          <a:prstGeom prst="ellipse">
            <a:avLst/>
          </a:prstGeom>
          <a:solidFill>
            <a:srgbClr val="F4A25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6967728" y="390448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+ prioritize in seconds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75120" y="4507992"/>
            <a:ext cx="146304" cy="146304"/>
          </a:xfrm>
          <a:prstGeom prst="ellipse">
            <a:avLst/>
          </a:prstGeom>
          <a:solidFill>
            <a:srgbClr val="F4A25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6967728" y="440740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Consequential actions always reviewed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75120" y="5010912"/>
            <a:ext cx="146304" cy="146304"/>
          </a:xfrm>
          <a:prstGeom prst="ellipse">
            <a:avLst/>
          </a:prstGeom>
          <a:solidFill>
            <a:srgbClr val="F4A25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6967728" y="491032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Self-correcting before it ships a bad reply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75120" y="5513832"/>
            <a:ext cx="146304" cy="146304"/>
          </a:xfrm>
          <a:prstGeom prst="ellipse">
            <a:avLst/>
          </a:prstGeom>
          <a:solidFill>
            <a:srgbClr val="F4A25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6967728" y="541324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evaluated, logged, and monitored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pipeline — chosen for its fixed sequence, shared state, and built-in conditional routing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084832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658368" y="199339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233172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8368" y="2697480"/>
            <a:ext cx="1865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category &amp; priority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633472" y="237744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98064" y="1920240"/>
            <a:ext cx="2084832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2907792" y="199339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07792" y="233172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Lookup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07792" y="2697480"/>
            <a:ext cx="1865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+ external context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82896" y="237744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47488" y="1920240"/>
            <a:ext cx="2084832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5157216" y="199339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57216" y="233172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57216" y="2697480"/>
            <a:ext cx="1865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writes the reply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132320" y="237744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296912" y="1920240"/>
            <a:ext cx="2084832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7406640" y="199339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06640" y="233172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06640" y="2697480"/>
            <a:ext cx="1865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 if unsafe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381744" y="237744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546336" y="1920240"/>
            <a:ext cx="2084832" cy="1371600"/>
          </a:xfrm>
          <a:prstGeom prst="roundRect">
            <a:avLst>
              <a:gd name="adj" fmla="val 6667"/>
            </a:avLst>
          </a:prstGeom>
          <a:solidFill>
            <a:srgbClr val="F4A25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5" name="Text 23"/>
          <p:cNvSpPr/>
          <p:nvPr/>
        </p:nvSpPr>
        <p:spPr>
          <a:xfrm>
            <a:off x="9656064" y="199339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656064" y="233172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56064" y="2697480"/>
            <a:ext cx="1865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or auto-send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3703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Supporting components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48640" y="41605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AF4F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0" name="Shape 28"/>
          <p:cNvSpPr/>
          <p:nvPr/>
        </p:nvSpPr>
        <p:spPr>
          <a:xfrm>
            <a:off x="713232" y="4325112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1" name="Text 29"/>
          <p:cNvSpPr/>
          <p:nvPr/>
        </p:nvSpPr>
        <p:spPr>
          <a:xfrm>
            <a:off x="713232" y="4325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76" dirty="0"/>
          </a:p>
        </p:txBody>
      </p:sp>
      <p:sp>
        <p:nvSpPr>
          <p:cNvPr id="32" name="Text 30"/>
          <p:cNvSpPr/>
          <p:nvPr/>
        </p:nvSpPr>
        <p:spPr>
          <a:xfrm>
            <a:off x="713232" y="4782312"/>
            <a:ext cx="2276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State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13232" y="5074920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TicketState carries data across every node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337560" y="41605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AF4F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5" name="Shape 33"/>
          <p:cNvSpPr/>
          <p:nvPr/>
        </p:nvSpPr>
        <p:spPr>
          <a:xfrm>
            <a:off x="3502152" y="4325112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6" name="Text 34"/>
          <p:cNvSpPr/>
          <p:nvPr/>
        </p:nvSpPr>
        <p:spPr>
          <a:xfrm>
            <a:off x="3502152" y="4325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76" dirty="0"/>
          </a:p>
        </p:txBody>
      </p:sp>
      <p:sp>
        <p:nvSpPr>
          <p:cNvPr id="37" name="Text 35"/>
          <p:cNvSpPr/>
          <p:nvPr/>
        </p:nvSpPr>
        <p:spPr>
          <a:xfrm>
            <a:off x="3502152" y="4782312"/>
            <a:ext cx="2276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Tool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3502152" y="5074920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API call for customer enrichment, with timeout handling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26480" y="41605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AF4F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0" name="Shape 38"/>
          <p:cNvSpPr/>
          <p:nvPr/>
        </p:nvSpPr>
        <p:spPr>
          <a:xfrm>
            <a:off x="6291072" y="4325112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1" name="Text 39"/>
          <p:cNvSpPr/>
          <p:nvPr/>
        </p:nvSpPr>
        <p:spPr>
          <a:xfrm>
            <a:off x="6291072" y="4325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76" dirty="0"/>
          </a:p>
        </p:txBody>
      </p:sp>
      <p:sp>
        <p:nvSpPr>
          <p:cNvPr id="42" name="Text 40"/>
          <p:cNvSpPr/>
          <p:nvPr/>
        </p:nvSpPr>
        <p:spPr>
          <a:xfrm>
            <a:off x="6291072" y="4782312"/>
            <a:ext cx="2276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Self-Correction Loop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6291072" y="5074920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Rewrites unsafe drafts, capped at 2 retries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915400" y="41605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AF4F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5" name="Shape 43"/>
          <p:cNvSpPr/>
          <p:nvPr/>
        </p:nvSpPr>
        <p:spPr>
          <a:xfrm>
            <a:off x="9079992" y="4325112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6" name="Text 44"/>
          <p:cNvSpPr/>
          <p:nvPr/>
        </p:nvSpPr>
        <p:spPr>
          <a:xfrm>
            <a:off x="9079992" y="4325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76" dirty="0"/>
          </a:p>
        </p:txBody>
      </p:sp>
      <p:sp>
        <p:nvSpPr>
          <p:cNvPr id="47" name="Text 45"/>
          <p:cNvSpPr/>
          <p:nvPr/>
        </p:nvSpPr>
        <p:spPr>
          <a:xfrm>
            <a:off x="9079992" y="4782312"/>
            <a:ext cx="2276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Checkpoint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9079992" y="5074920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 / critical / refund → always reviewed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Production, Not Just a Demo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failure mode is handled explicitly — nothing fails silently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80" dirty="0"/>
          </a:p>
        </p:txBody>
      </p:sp>
      <p:sp>
        <p:nvSpPr>
          <p:cNvPr id="7" name="Text 5"/>
          <p:cNvSpPr/>
          <p:nvPr/>
        </p:nvSpPr>
        <p:spPr>
          <a:xfrm>
            <a:off x="777240" y="26517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Validation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29184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schema rejects malformed tickets before they ever reach the agent.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60020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3566160" y="18745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356616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680" dirty="0"/>
          </a:p>
        </p:txBody>
      </p:sp>
      <p:sp>
        <p:nvSpPr>
          <p:cNvPr id="12" name="Text 10"/>
          <p:cNvSpPr/>
          <p:nvPr/>
        </p:nvSpPr>
        <p:spPr>
          <a:xfrm>
            <a:off x="3566160" y="26517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Timeout Handling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66160" y="329184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 calls fail gracefully — errors are logged, not crashed 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60020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Shape 13"/>
          <p:cNvSpPr/>
          <p:nvPr/>
        </p:nvSpPr>
        <p:spPr>
          <a:xfrm>
            <a:off x="6355080" y="18745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635508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680" dirty="0"/>
          </a:p>
        </p:txBody>
      </p:sp>
      <p:sp>
        <p:nvSpPr>
          <p:cNvPr id="17" name="Text 15"/>
          <p:cNvSpPr/>
          <p:nvPr/>
        </p:nvSpPr>
        <p:spPr>
          <a:xfrm>
            <a:off x="6355080" y="26517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Refusal Fallback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55080" y="329184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LLM declines to respond, a safe fallback message is sent instead.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15400" y="160020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Shape 18"/>
          <p:cNvSpPr/>
          <p:nvPr/>
        </p:nvSpPr>
        <p:spPr>
          <a:xfrm>
            <a:off x="9144000" y="18745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914400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680" dirty="0"/>
          </a:p>
        </p:txBody>
      </p:sp>
      <p:sp>
        <p:nvSpPr>
          <p:cNvPr id="22" name="Text 20"/>
          <p:cNvSpPr/>
          <p:nvPr/>
        </p:nvSpPr>
        <p:spPr>
          <a:xfrm>
            <a:off x="9144000" y="26517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Self-Correction Loop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44000" y="329184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claims (e.g. false refund promises) trigger an automatic rewrite, capped at 2 retries.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50749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a real external API call and a mandatory human-approval checkpoint for consequential tickets.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Know It Works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against 6 criteria, across 10 varied test cases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846320" cy="4572000"/>
          </a:xfrm>
          <a:prstGeom prst="roundRect">
            <a:avLst>
              <a:gd name="adj" fmla="val 2000"/>
            </a:avLst>
          </a:prstGeom>
          <a:solidFill>
            <a:srgbClr val="EAF4F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Evaluation Criteria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2322576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1115568" y="22219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success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2779776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1115568" y="26791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accuracy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3236976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115568" y="31363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3694176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1115568" y="35935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quality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68680" y="4151376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1115568" y="40507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68680" y="4608576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1115568" y="45079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run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23560" y="1554480"/>
            <a:ext cx="5989320" cy="4572000"/>
          </a:xfrm>
          <a:prstGeom prst="roundRect">
            <a:avLst>
              <a:gd name="adj" fmla="val 200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5943600" y="17830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Dataset — 10 Cases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43600" y="233172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5943600" y="306324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242048" y="233172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7242048" y="306324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540496" y="233172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8540496" y="306324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838944" y="233172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8E7CC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9838944" y="306324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943600" y="3749040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a prompt-injection attempt and an all-caps urgency flood — stress-testing beyond happy-path tickets.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943600" y="4709160"/>
            <a:ext cx="5394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failure pattern and a concrete engineering fix are identified automatically after every evaluation run — turning testing into a repeatable feedback loop.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Deployed, Logged, and Watched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FastAPI service with structured logging and an 8-point production monitoring policy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383280" cy="685800"/>
          </a:xfrm>
          <a:prstGeom prst="roundRect">
            <a:avLst>
              <a:gd name="adj" fmla="val 8000"/>
            </a:avLst>
          </a:prstGeom>
          <a:solidFill>
            <a:srgbClr val="EAF4F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685800" y="202082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/tickets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229514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+ process a ticket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3383280" cy="685800"/>
          </a:xfrm>
          <a:prstGeom prst="roundRect">
            <a:avLst>
              <a:gd name="adj" fmla="val 8000"/>
            </a:avLst>
          </a:prstGeom>
          <a:solidFill>
            <a:srgbClr val="EAF4F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685800" y="284378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/health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5800" y="311810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health check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611880"/>
            <a:ext cx="3383280" cy="685800"/>
          </a:xfrm>
          <a:prstGeom prst="roundRect">
            <a:avLst>
              <a:gd name="adj" fmla="val 8000"/>
            </a:avLst>
          </a:prstGeom>
          <a:solidFill>
            <a:srgbClr val="EAF4F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685800" y="366674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/metrics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85800" y="394106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request &amp; latency stats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97680" y="1554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Monitoring Policy (excerpt)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97680" y="1965960"/>
            <a:ext cx="7223760" cy="502920"/>
          </a:xfrm>
          <a:prstGeom prst="rect">
            <a:avLst/>
          </a:prstGeom>
          <a:solidFill>
            <a:srgbClr val="EAF4F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4434840" y="202082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98080" y="202082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5% over 15 min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97680" y="2496312"/>
            <a:ext cx="722376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4434840" y="255117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(p95)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98080" y="255117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10 seconds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97680" y="3026664"/>
            <a:ext cx="7223760" cy="502920"/>
          </a:xfrm>
          <a:prstGeom prst="rect">
            <a:avLst/>
          </a:prstGeom>
          <a:solidFill>
            <a:srgbClr val="EAF4F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4434840" y="308152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drift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98080" y="308152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25% above 7-day baseline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97680" y="3557016"/>
            <a:ext cx="722376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5" name="Text 23"/>
          <p:cNvSpPr/>
          <p:nvPr/>
        </p:nvSpPr>
        <p:spPr>
          <a:xfrm>
            <a:off x="4434840" y="361188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quality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98080" y="36118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below 85%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297680" y="4087368"/>
            <a:ext cx="7223760" cy="502920"/>
          </a:xfrm>
          <a:prstGeom prst="rect">
            <a:avLst/>
          </a:prstGeom>
          <a:solidFill>
            <a:srgbClr val="EAF4F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8" name="Text 26"/>
          <p:cNvSpPr/>
          <p:nvPr/>
        </p:nvSpPr>
        <p:spPr>
          <a:xfrm>
            <a:off x="4434840" y="414223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498080" y="414223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confirmed violation — immediate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297680" y="466344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checklist covers 8 dimensions — error rate, latency, cost, quality, safety, tool reliability, and re-evaluation cadence.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Stands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F4A25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377440" y="1463040"/>
            <a:ext cx="9052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justified LangGraph architecture with explicit human checkpoints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F4A25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377440" y="2194560"/>
            <a:ext cx="9052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tool integration, validation, and self-correction — not just a happy path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92608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F4A25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377440" y="2926080"/>
            <a:ext cx="9052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criteria across 10 cases, with automated failure-pattern detection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65760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F4A25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640080" y="36576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377440" y="3657600"/>
            <a:ext cx="9052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service with logging, metrics, and an 8-point monitoring policy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4754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real token-cost tracking, structured classifier output, and weekly regression evaluation.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57607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604</Words>
  <Application>Microsoft Office PowerPoint</Application>
  <PresentationFormat>Widescreen</PresentationFormat>
  <Paragraphs>124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Usman Ilyas</cp:lastModifiedBy>
  <cp:revision>2</cp:revision>
  <dcterms:created xsi:type="dcterms:W3CDTF">2026-08-15T12:53:40Z</dcterms:created>
  <dcterms:modified xsi:type="dcterms:W3CDTF">2026-08-15T12:55:44Z</dcterms:modified>
</cp:coreProperties>
</file>